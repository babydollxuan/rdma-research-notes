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6"/>
  </p:handoutMasterIdLst>
  <p:sldIdLst>
    <p:sldId id="256" r:id="rId3"/>
    <p:sldId id="270" r:id="rId4"/>
    <p:sldId id="257" r:id="rId5"/>
    <p:sldId id="258" r:id="rId7"/>
    <p:sldId id="259" r:id="rId8"/>
    <p:sldId id="260" r:id="rId9"/>
    <p:sldId id="261" r:id="rId10"/>
    <p:sldId id="272" r:id="rId11"/>
    <p:sldId id="262" r:id="rId12"/>
    <p:sldId id="269" r:id="rId13"/>
    <p:sldId id="266" r:id="rId14"/>
    <p:sldId id="267" r:id="rId15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64369" y="1143000"/>
            <a:ext cx="552926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737870" y="7712710"/>
            <a:ext cx="9575165" cy="1649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940" algn="l" rtl="0" eaLnBrk="0">
              <a:lnSpc>
                <a:spcPct val="109000"/>
              </a:lnSpc>
            </a:pP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“我们必须扩展到更多的计算资源，而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这些资源在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一个集群中是无法获得的。我们必须进行多集</a:t>
            </a: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群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训练…"-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OpenAl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,"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GPT</a:t>
            </a:r>
            <a:r>
              <a:rPr sz="22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-4.5</a:t>
            </a: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"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5575" algn="l" rtl="0" eaLnBrk="0">
              <a:lnSpc>
                <a:spcPct val="109000"/>
              </a:lnSpc>
              <a:spcBef>
                <a:spcPts val="665"/>
              </a:spcBef>
            </a:pPr>
            <a:endParaRPr sz="2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016000" y="400685"/>
            <a:ext cx="15235555" cy="1136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endParaRPr sz="100" dirty="0"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  <a:p>
            <a:pPr marL="12700" algn="l" rtl="0" eaLnBrk="0">
              <a:lnSpc>
                <a:spcPct val="150000"/>
              </a:lnSpc>
            </a:pPr>
            <a:r>
              <a:rPr lang="en-US" altLang="zh-CN" sz="40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SDR-RDMA: Software-Defined Reliability Architecture for Planetary Scale RDMA Communication</a:t>
            </a:r>
            <a:r>
              <a:rPr lang="en-US" altLang="zh-CN" sz="40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sz="4000" b="1" kern="0" spc="30" dirty="0">
                <a:solidFill>
                  <a:srgbClr val="000000">
                    <a:alpha val="100000"/>
                  </a:srgbClr>
                </a:solidFill>
                <a:highlight>
                  <a:srgbClr val="C0C0C0"/>
                </a:highlight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preprint 2025</a:t>
            </a:r>
            <a:r>
              <a:rPr lang="en-US" sz="40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为行星级规模的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通信重塑可靠性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579136" y="6256282"/>
          <a:ext cx="6119494" cy="1026795"/>
        </p:xfrm>
        <a:graphic>
          <a:graphicData uri="http://schemas.openxmlformats.org/drawingml/2006/table">
            <a:tbl>
              <a:tblPr/>
              <a:tblGrid>
                <a:gridCol w="2733675"/>
                <a:gridCol w="3385819"/>
              </a:tblGrid>
              <a:tr h="1026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950" algn="l" rtl="0" eaLnBrk="0">
                        <a:lnSpc>
                          <a:spcPct val="83000"/>
                        </a:lnSpc>
                      </a:pPr>
                      <a:r>
                        <a:rPr sz="2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软件定义灵活性</a:t>
                      </a:r>
                      <a:endParaRPr sz="2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ts val="3020"/>
                        </a:lnSpc>
                      </a:pPr>
                      <a:r>
                        <a:rPr sz="2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Software</a:t>
                      </a:r>
                      <a:r>
                        <a:rPr sz="2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defined</a:t>
                      </a:r>
                      <a:endParaRPr sz="2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4665" algn="l" rtl="0" eaLnBrk="0">
                        <a:lnSpc>
                          <a:spcPct val="79000"/>
                        </a:lnSpc>
                        <a:spcBef>
                          <a:spcPts val="505"/>
                        </a:spcBef>
                      </a:pP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Flexibility)</a:t>
                      </a:r>
                      <a:endParaRPr sz="2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2035" algn="l" rtl="0" eaLnBrk="0">
                        <a:lnSpc>
                          <a:spcPct val="83000"/>
                        </a:lnSpc>
                      </a:pPr>
                      <a:r>
                        <a:rPr sz="24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硬件加速性能</a:t>
                      </a:r>
                      <a:endParaRPr sz="2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r" rtl="0" eaLnBrk="0">
                        <a:lnSpc>
                          <a:spcPts val="3040"/>
                        </a:lnSpc>
                      </a:pPr>
                      <a:r>
                        <a:rPr sz="2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Hardware</a:t>
                      </a:r>
                      <a:r>
                        <a:rPr sz="2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accelerated</a:t>
                      </a:r>
                      <a:endParaRPr sz="2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82040" algn="l" rtl="0" eaLnBrk="0">
                        <a:lnSpc>
                          <a:spcPct val="83000"/>
                        </a:lnSpc>
                        <a:spcBef>
                          <a:spcPts val="315"/>
                        </a:spcBef>
                      </a:pP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Performance</a:t>
                      </a:r>
                      <a:r>
                        <a:rPr sz="2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endParaRPr sz="2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2"/>
          <p:cNvSpPr/>
          <p:nvPr/>
        </p:nvSpPr>
        <p:spPr>
          <a:xfrm>
            <a:off x="12515794" y="7986199"/>
            <a:ext cx="3808095" cy="696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2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应用感知可靠性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3000"/>
              </a:lnSpc>
              <a:spcBef>
                <a:spcPts val="510"/>
              </a:spcBef>
            </a:pPr>
            <a:r>
              <a:rPr sz="22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Application</a:t>
            </a:r>
            <a:r>
              <a:rPr sz="22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aware</a:t>
            </a:r>
            <a:r>
              <a:rPr sz="2200" kern="0" spc="4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Reliability</a:t>
            </a:r>
            <a:r>
              <a:rPr sz="22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3347720"/>
            <a:ext cx="8348980" cy="37960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5185" y="478155"/>
            <a:ext cx="9928225" cy="9125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 16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5F5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391696" y="2476537"/>
            <a:ext cx="7302537" cy="3422635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04964" y="2578071"/>
            <a:ext cx="6521395" cy="3714756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1013049" y="8512950"/>
            <a:ext cx="16363314" cy="1160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问题3:致命的</a:t>
            </a: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RTT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惩罚：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在长距离链路上，每一次丢包重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传都意味着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2890"/>
              </a:lnSpc>
            </a:pP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增加一个完整的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RTT</a:t>
            </a:r>
            <a:r>
              <a:rPr sz="1900" b="1" kern="0" spc="2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(例如2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ms)   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的延迟。这会导致性能雪崩。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9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5"/>
              </a:spcBef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9372530" y="6153268"/>
            <a:ext cx="6903084" cy="1941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像一个功能回定的“烤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面包机”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5000"/>
              </a:lnSpc>
              <a:spcBef>
                <a:spcPts val="580"/>
              </a:spcBef>
            </a:pP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问题2:僵化的硬件逻辑：</a:t>
            </a:r>
            <a:r>
              <a:rPr sz="19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统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1900" kern="0" spc="6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的可靠性由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ASIC</a:t>
            </a:r>
            <a:r>
              <a:rPr sz="1900" kern="0" spc="-5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芯片写死，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1000"/>
              </a:lnSpc>
              <a:spcBef>
                <a:spcPts val="5"/>
              </a:spcBef>
            </a:pP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只支持选择性重传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Selective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Repeat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SR)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这就像一个功能固定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的“烤面包机”,无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法适应复杂的烹饪需求。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1009599" y="6400644"/>
            <a:ext cx="7519034" cy="1696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78175" algn="l" rtl="0" eaLnBrk="0">
              <a:lnSpc>
                <a:spcPct val="96000"/>
              </a:lnSpc>
            </a:pPr>
            <a:r>
              <a:rPr sz="19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消息大小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5000"/>
              </a:lnSpc>
              <a:spcBef>
                <a:spcPts val="580"/>
              </a:spcBef>
            </a:pP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问题1:环境剧变：</a:t>
            </a:r>
            <a:r>
              <a:rPr sz="19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</a:t>
            </a: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中心内部网络是“短、快、稳”</a:t>
            </a: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(微秒级延迟，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indent="3175" algn="l" rtl="0" eaLnBrk="0">
              <a:lnSpc>
                <a:spcPct val="132000"/>
              </a:lnSpc>
              <a:spcBef>
                <a:spcPts val="25"/>
              </a:spcBef>
            </a:pP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丢包率&lt;10-8)。而跨洲光纤则是“长、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慢、波动”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(亳秒级延迟，丢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9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包率在10</a:t>
            </a:r>
            <a:r>
              <a:rPr lang="en-US" sz="1900" kern="0" spc="-110" baseline="30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1900" kern="0" spc="-110" baseline="30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sz="19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到10</a:t>
            </a:r>
            <a:r>
              <a:rPr sz="1900" kern="0" spc="-110" baseline="30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-1</a:t>
            </a:r>
            <a:r>
              <a:rPr sz="19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间剧烈变化)</a:t>
            </a:r>
            <a:r>
              <a:rPr sz="1900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018588" y="869046"/>
            <a:ext cx="13034644" cy="744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9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</a:t>
            </a:r>
            <a:r>
              <a:rPr sz="49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49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的:在跨洋战场上过于僵硬</a:t>
            </a:r>
            <a:endParaRPr sz="4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2684153" y="2127953"/>
            <a:ext cx="3768725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选择性重传</a:t>
            </a:r>
            <a:r>
              <a:rPr sz="2400" kern="0" spc="-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(SR)</a:t>
            </a:r>
            <a:r>
              <a:rPr sz="2400" kern="0" spc="8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性能雪崩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textbox 32"/>
          <p:cNvSpPr/>
          <p:nvPr/>
        </p:nvSpPr>
        <p:spPr>
          <a:xfrm rot="16200000">
            <a:off x="-55050" y="4267069"/>
            <a:ext cx="2760979" cy="274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0"/>
              </a:spcBef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</a:t>
            </a:r>
            <a:r>
              <a:rPr sz="1500" kern="0" spc="-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戍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sz="1500" kern="0" spc="-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间 (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</a:t>
            </a:r>
            <a:r>
              <a:rPr sz="1500" kern="0" spc="-2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sz="1500" kern="0" spc="-2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想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情</a:t>
            </a:r>
            <a:r>
              <a:rPr sz="1500" kern="0" spc="-2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况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 3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7F4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6013391" y="1860597"/>
            <a:ext cx="6032613" cy="5556235"/>
            <a:chOff x="0" y="0"/>
            <a:chExt cx="6032613" cy="5556235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032613" cy="5556235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-12700" y="-12700"/>
              <a:ext cx="6058534" cy="56235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77645" algn="l" rtl="0" eaLnBrk="0">
                <a:lnSpc>
                  <a:spcPct val="93000"/>
                </a:lnSpc>
                <a:spcBef>
                  <a:spcPts val="5"/>
                </a:spcBef>
              </a:pPr>
              <a:r>
                <a:rPr sz="2700" b="1" kern="0" spc="-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应用</a:t>
              </a:r>
              <a:r>
                <a:rPr sz="2700" kern="0" spc="-79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700" b="1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(Application)</a:t>
              </a:r>
              <a:endParaRPr sz="2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28850" algn="l" rtl="0" eaLnBrk="0">
                <a:lnSpc>
                  <a:spcPct val="81000"/>
                </a:lnSpc>
                <a:spcBef>
                  <a:spcPts val="760"/>
                </a:spcBef>
              </a:pPr>
              <a:r>
                <a:rPr sz="2500" kern="0" spc="-6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SDR</a:t>
              </a:r>
              <a:r>
                <a:rPr sz="2500" kern="0" spc="1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500" kern="0" spc="-6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SDK</a:t>
              </a:r>
              <a:endParaRPr sz="2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7500" algn="l" rtl="0" eaLnBrk="0">
                <a:lnSpc>
                  <a:spcPct val="96000"/>
                </a:lnSpc>
                <a:spcBef>
                  <a:spcPts val="1915"/>
                </a:spcBef>
              </a:pPr>
              <a:r>
                <a:rPr sz="2500" kern="0" spc="-1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应用感知可靠性逻辑</a:t>
              </a:r>
              <a:endParaRPr sz="2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33550" algn="l" rtl="0" eaLnBrk="0">
                <a:lnSpc>
                  <a:spcPct val="80000"/>
                </a:lnSpc>
                <a:spcBef>
                  <a:spcPts val="755"/>
                </a:spcBef>
              </a:pPr>
              <a:r>
                <a:rPr sz="25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Message</a:t>
              </a:r>
              <a:r>
                <a:rPr sz="2500" kern="0" spc="5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5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Bitmap</a:t>
              </a:r>
              <a:endParaRPr sz="2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01800" algn="l" rtl="0" eaLnBrk="0">
                <a:lnSpc>
                  <a:spcPct val="96000"/>
                </a:lnSpc>
                <a:spcBef>
                  <a:spcPts val="750"/>
                </a:spcBef>
              </a:pPr>
              <a:r>
                <a:rPr sz="2500" kern="0" spc="0" dirty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DPA</a:t>
              </a:r>
              <a:r>
                <a:rPr sz="2500" kern="0" spc="150" dirty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500" kern="0" spc="1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高速包处理</a:t>
              </a:r>
              <a:endParaRPr sz="2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7500" algn="l" rtl="0" eaLnBrk="0">
                <a:lnSpc>
                  <a:spcPct val="95000"/>
                </a:lnSpc>
                <a:spcBef>
                  <a:spcPts val="0"/>
                </a:spcBef>
              </a:pPr>
              <a:r>
                <a:rPr sz="2500" kern="0" spc="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不可靠</a:t>
              </a:r>
              <a:r>
                <a:rPr sz="2500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RDMA</a:t>
              </a:r>
              <a:r>
                <a:rPr sz="2500" kern="0" spc="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端点</a:t>
              </a:r>
              <a:endParaRPr sz="2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40" name="textbox 40"/>
          <p:cNvSpPr/>
          <p:nvPr/>
        </p:nvSpPr>
        <p:spPr>
          <a:xfrm>
            <a:off x="4204970" y="7664450"/>
            <a:ext cx="9524365" cy="155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0000"/>
              </a:lnSpc>
            </a:pP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结果：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既获得了软件的灵活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性来应对多变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的网络环境，又保留了硬件的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线速性能和零拷贝优势。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  <a:spcBef>
                <a:spcPts val="0"/>
              </a:spcBef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12719030" y="3020242"/>
            <a:ext cx="3909059" cy="3364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6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2700" kern="0" spc="6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架构：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3000"/>
              </a:lnSpc>
              <a:spcBef>
                <a:spcPts val="90"/>
              </a:spcBef>
            </a:pP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复杂的可靠性逻辑(如重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传、纠删码)上移到软件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SDK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而将高速的包处理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(数据移动、状态更新)卸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载到网卡的可编程引擎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3500" algn="l" rtl="0" eaLnBrk="0">
              <a:lnSpc>
                <a:spcPct val="81000"/>
              </a:lnSpc>
              <a:spcBef>
                <a:spcPts val="5"/>
              </a:spcBef>
            </a:pP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(DPA)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806537" y="3052096"/>
            <a:ext cx="3809365" cy="2843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5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灵感来源</a:t>
            </a:r>
            <a:r>
              <a:rPr sz="2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15000"/>
              </a:lnSpc>
              <a:spcBef>
                <a:spcPts val="660"/>
              </a:spcBef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正如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QUIC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UDP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之上为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传输协议带来了创新，我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们可以在不可靠的</a:t>
            </a:r>
            <a:endParaRPr sz="2700" kern="0" spc="6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15000"/>
              </a:lnSpc>
              <a:spcBef>
                <a:spcPts val="660"/>
              </a:spcBef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lang="en-US" sz="2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传输层之上构建一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软件定义的可靠性层。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3810701" y="544501"/>
            <a:ext cx="9845675" cy="586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800" b="1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解耦：将可靠性决策权从硬件“解放”到软件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501654" y="3492086"/>
            <a:ext cx="378459" cy="2445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6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零拷贝数据路径</a:t>
            </a:r>
            <a:endParaRPr sz="2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 50"/>
          <p:cNvSpPr/>
          <p:nvPr/>
        </p:nvSpPr>
        <p:spPr>
          <a:xfrm>
            <a:off x="0" y="8255"/>
            <a:ext cx="17475200" cy="9753600"/>
          </a:xfrm>
          <a:prstGeom prst="rect">
            <a:avLst/>
          </a:prstGeom>
          <a:solidFill>
            <a:srgbClr val="F7F4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5048" y="3054339"/>
            <a:ext cx="8337418" cy="4019556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492795" y="558169"/>
            <a:ext cx="14569439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40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核心机制：用“投递清单</a:t>
            </a:r>
            <a:r>
              <a:rPr sz="40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0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(Bitmap)”</a:t>
            </a:r>
            <a:r>
              <a:rPr sz="4000" kern="0" spc="6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0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实现部分消息完成</a:t>
            </a:r>
            <a:endParaRPr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0" algn="l" rtl="0" eaLnBrk="0">
              <a:lnSpc>
                <a:spcPct val="85000"/>
              </a:lnSpc>
              <a:spcBef>
                <a:spcPts val="670"/>
              </a:spcBef>
            </a:pPr>
            <a:r>
              <a:rPr sz="22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“部分消息完成”的革命”: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RDMA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要么成功接收整个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47955" algn="l" rtl="0" eaLnBrk="0">
              <a:lnSpc>
                <a:spcPts val="2735"/>
              </a:lnSpc>
            </a:pP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消息，要么完全失败。</a:t>
            </a: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SDR-RDMA</a:t>
            </a: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允许上层应用看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到“消息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47955" algn="l" rtl="0" eaLnBrk="0">
              <a:lnSpc>
                <a:spcPts val="2755"/>
              </a:lnSpc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已收到</a:t>
            </a:r>
            <a:r>
              <a:rPr lang="en-US"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75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%,但第</a:t>
            </a:r>
            <a:r>
              <a:rPr lang="en-US"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块丢失”的精确状态。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9192512" y="6658802"/>
            <a:ext cx="7569834" cy="268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4620" indent="-122555" algn="l" rtl="0" eaLnBrk="0">
              <a:lnSpc>
                <a:spcPct val="104000"/>
              </a:lnSpc>
            </a:pPr>
            <a:r>
              <a:rPr lang="en-US" sz="22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Bitmap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如何工</a:t>
            </a:r>
            <a:r>
              <a:rPr sz="22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作:</a:t>
            </a:r>
            <a:r>
              <a:rPr sz="2200" kern="0" spc="-6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接收端为每个消息缓冲区关联一个位图。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每个比特位对应一个数据块。当一个数据块被成功接收，硬件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(DPA)</a:t>
            </a:r>
            <a:r>
              <a:rPr sz="2200" kern="0" spc="7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会自动更新位图中对应的比特位。上层软件只需轮询这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个位图，就能立即知道哪些数据块丢失，从而精确地执行恢复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策</a:t>
            </a:r>
            <a:r>
              <a:rPr sz="1800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1130352" y="3441726"/>
            <a:ext cx="2430145" cy="4531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3565" algn="l" rtl="0" eaLnBrk="0">
              <a:lnSpc>
                <a:spcPct val="81000"/>
              </a:lnSpc>
            </a:pP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Chunk</a:t>
            </a:r>
            <a:r>
              <a:rPr sz="26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2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3565" algn="l" rtl="0" eaLnBrk="0">
              <a:lnSpc>
                <a:spcPct val="81000"/>
              </a:lnSpc>
              <a:spcBef>
                <a:spcPts val="785"/>
              </a:spcBef>
            </a:pP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Chunk</a:t>
            </a:r>
            <a:r>
              <a:rPr sz="2600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2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3565" algn="l" rtl="0" eaLnBrk="0">
              <a:lnSpc>
                <a:spcPts val="3545"/>
              </a:lnSpc>
              <a:spcBef>
                <a:spcPts val="785"/>
              </a:spcBef>
            </a:pP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Chunk</a:t>
            </a:r>
            <a:r>
              <a:rPr sz="2600" kern="0" spc="3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2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3565" algn="l" rtl="0" eaLnBrk="0">
              <a:lnSpc>
                <a:spcPct val="81000"/>
              </a:lnSpc>
              <a:spcBef>
                <a:spcPts val="790"/>
              </a:spcBef>
            </a:pP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Chunk</a:t>
            </a:r>
            <a:r>
              <a:rPr sz="2600" kern="0" spc="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2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8795" algn="l" rtl="0" eaLnBrk="0">
              <a:lnSpc>
                <a:spcPct val="95000"/>
              </a:lnSpc>
              <a:spcBef>
                <a:spcPts val="785"/>
              </a:spcBef>
            </a:pPr>
            <a:r>
              <a:rPr sz="2600" b="1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完整消息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5"/>
              </a:spcBef>
            </a:pPr>
            <a:r>
              <a:rPr sz="26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(Full</a:t>
            </a:r>
            <a:r>
              <a:rPr sz="2600" b="1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6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Message)</a:t>
            </a:r>
            <a:endParaRPr sz="2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6329403" y="7270594"/>
            <a:ext cx="712469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6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网络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endParaRPr sz="1400" b="1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145" y="2889885"/>
            <a:ext cx="7124065" cy="3974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 6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4F4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textbox 74"/>
          <p:cNvSpPr/>
          <p:nvPr/>
        </p:nvSpPr>
        <p:spPr>
          <a:xfrm>
            <a:off x="1022356" y="6780456"/>
            <a:ext cx="16339185" cy="289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2000"/>
              </a:lnSpc>
            </a:pPr>
            <a:r>
              <a:rPr sz="25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绕过硬件限制：我们不使用可靠连接</a:t>
            </a:r>
            <a:r>
              <a:rPr sz="25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(RC)</a:t>
            </a:r>
            <a:r>
              <a:rPr sz="25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而是选择不可靠连接</a:t>
            </a:r>
            <a:r>
              <a:rPr sz="25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(UC)</a:t>
            </a:r>
            <a:r>
              <a:rPr sz="2500" kern="0" spc="-3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作为底层引擎，以避免硬件的自动重传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7145" algn="l" rtl="0" eaLnBrk="0">
              <a:lnSpc>
                <a:spcPct val="105000"/>
              </a:lnSpc>
              <a:spcBef>
                <a:spcPts val="1115"/>
              </a:spcBef>
            </a:pPr>
            <a:r>
              <a:rPr sz="25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化整为零：为避免</a:t>
            </a:r>
            <a:r>
              <a:rPr sz="25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UC</a:t>
            </a:r>
            <a:r>
              <a:rPr sz="25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“一包丢失，整包作废”的问题，</a:t>
            </a:r>
            <a:r>
              <a:rPr sz="25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</a:t>
            </a:r>
            <a:r>
              <a:rPr sz="2500" kern="0" spc="5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将每个网络包</a:t>
            </a:r>
            <a:r>
              <a:rPr sz="25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(packet)</a:t>
            </a:r>
            <a:r>
              <a:rPr sz="25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都作为一次独立的、单包的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</a:t>
            </a:r>
            <a:r>
              <a:rPr sz="25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2500" kern="0" spc="2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5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Write</a:t>
            </a:r>
            <a:r>
              <a:rPr sz="25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操作来发送。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18000"/>
              </a:lnSpc>
              <a:spcBef>
                <a:spcPts val="335"/>
              </a:spcBef>
            </a:pP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立即数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(Immediate      Data)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的妙用：每次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Write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操作都附带一个32位的立即数，其中编码了关键追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踪信息：</a:t>
            </a:r>
            <a:r>
              <a:rPr sz="25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消息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ID(Message</a:t>
            </a:r>
            <a:r>
              <a:rPr sz="25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ID)</a:t>
            </a:r>
            <a:r>
              <a:rPr sz="2500" kern="0" spc="-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和包偏移量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(Packet    Offset)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接收端的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DPA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正是根据这些信息来精确更新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后台位图的。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  <a:spcBef>
                <a:spcPts val="0"/>
              </a:spcBef>
            </a:pPr>
            <a:endParaRPr sz="1300" kern="0" spc="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2739455" y="674502"/>
            <a:ext cx="11993244" cy="741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9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在不可靠传输之上构建精确追踪</a:t>
            </a:r>
            <a:endParaRPr sz="4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605" y="1756410"/>
            <a:ext cx="13908405" cy="4485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 9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6F4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textbox 98"/>
          <p:cNvSpPr/>
          <p:nvPr/>
        </p:nvSpPr>
        <p:spPr>
          <a:xfrm>
            <a:off x="267970" y="1427480"/>
            <a:ext cx="6933565" cy="7956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4445" algn="l" rtl="0" eaLnBrk="0">
              <a:lnSpc>
                <a:spcPct val="150000"/>
              </a:lnSpc>
            </a:pP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挑战：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在400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Gbit/s</a:t>
            </a:r>
            <a:r>
              <a:rPr sz="2500" kern="0" spc="4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甚至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Tbit/s</a:t>
            </a:r>
            <a:r>
              <a:rPr sz="2500" kern="0" spc="4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的速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率下，对每个包进行软件处理会耗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尽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CPU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150000"/>
              </a:lnSpc>
              <a:spcBef>
                <a:spcPts val="760"/>
              </a:spcBef>
            </a:pPr>
            <a:r>
              <a:rPr sz="25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解决方案：</a:t>
            </a:r>
            <a:r>
              <a:rPr sz="25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DPA</a:t>
            </a:r>
            <a:r>
              <a:rPr sz="2500" kern="0" spc="4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全权负责：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54965" indent="-342265" algn="l" rtl="0" eaLnBrk="0">
              <a:lnSpc>
                <a:spcPct val="150000"/>
              </a:lnSpc>
              <a:spcBef>
                <a:spcPts val="835"/>
              </a:spcBef>
            </a:pP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并行处理：</a:t>
            </a:r>
            <a:r>
              <a:rPr sz="2500" kern="0" spc="-6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DPA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拥有数百个轻量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级硬件线程。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SDR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采用多通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道设</a:t>
            </a: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计，将数据包分发给多个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DPA</a:t>
            </a: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</a:t>
            </a:r>
            <a:r>
              <a:rPr sz="2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程并行处理。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54965" indent="-342265" algn="l" rtl="0" eaLnBrk="0">
              <a:lnSpc>
                <a:spcPct val="150000"/>
              </a:lnSpc>
              <a:spcBef>
                <a:spcPts val="880"/>
              </a:spcBef>
            </a:pP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位图维护：</a:t>
            </a:r>
            <a:r>
              <a:rPr sz="2500" kern="0" spc="-6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DPA</a:t>
            </a:r>
            <a:r>
              <a:rPr sz="25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线程在自己的内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存中高效更新包粒度的位图。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4965" indent="-342265" algn="l" rtl="0" eaLnBrk="0">
              <a:lnSpc>
                <a:spcPct val="150000"/>
              </a:lnSpc>
              <a:spcBef>
                <a:spcPts val="0"/>
              </a:spcBef>
            </a:pP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减少</a:t>
            </a: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PCle</a:t>
            </a:r>
            <a:r>
              <a:rPr sz="2500" b="1" kern="0" spc="-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开销：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只有当一个完整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的、对上层可见的数据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块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(Chunk)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的所有包都到达时，</a:t>
            </a:r>
            <a:r>
              <a:rPr sz="2500" kern="0" spc="-3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DPA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才会通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PCle</a:t>
            </a:r>
            <a:r>
              <a:rPr sz="2500" kern="0" spc="-6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总线原子地更新主机内存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中的块位图。这极大地降低了对主</a:t>
            </a:r>
            <a:r>
              <a:rPr sz="2200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机的干扰。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755684" y="733012"/>
            <a:ext cx="15229205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sz="48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</a:t>
            </a:r>
            <a:r>
              <a:rPr sz="48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线速性能：将繁重工作卸载给数据路径加速器</a:t>
            </a:r>
            <a:r>
              <a:rPr sz="48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DPA</a:t>
            </a:r>
            <a:r>
              <a:rPr sz="48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4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6" name="textbox 116"/>
          <p:cNvSpPr/>
          <p:nvPr/>
        </p:nvSpPr>
        <p:spPr>
          <a:xfrm rot="16200000">
            <a:off x="10136513" y="7300307"/>
            <a:ext cx="100330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950"/>
              </a:lnSpc>
            </a:pP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7F4ED">
                  <a:alpha val="100000"/>
                </a:srgbClr>
              </a:clrFrom>
              <a:clrTo>
                <a:srgbClr val="F7F4E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01535" y="1704340"/>
            <a:ext cx="10065385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470" y="2211705"/>
            <a:ext cx="14526260" cy="48914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36395" y="956945"/>
            <a:ext cx="100768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纠删码的定义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可不可以调整这里的校验块配置</a:t>
            </a: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自适应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 11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7F3E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9137608" y="2134849"/>
            <a:ext cx="7867377" cy="7023408"/>
            <a:chOff x="0" y="0"/>
            <a:chExt cx="7867377" cy="7023408"/>
          </a:xfrm>
        </p:grpSpPr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1999018"/>
              <a:ext cx="7181956" cy="4654515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31860" y="-12700"/>
              <a:ext cx="7848600" cy="70789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145" algn="l" rtl="0" eaLnBrk="0">
                <a:lnSpc>
                  <a:spcPct val="97000"/>
                </a:lnSpc>
              </a:pPr>
              <a:r>
                <a:rPr sz="2600" b="1" kern="0" spc="-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策略二：纠删码</a:t>
              </a:r>
              <a:r>
                <a:rPr sz="2600" kern="0" spc="-2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600" b="1" kern="0" spc="-5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(EC)</a:t>
              </a:r>
              <a:endParaRPr sz="2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12700" algn="l" rtl="0" eaLnBrk="0">
                <a:lnSpc>
                  <a:spcPct val="94000"/>
                </a:lnSpc>
                <a:spcBef>
                  <a:spcPts val="780"/>
                </a:spcBef>
              </a:pP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逻辑：发送方在发送数据块的同时，计算并发送</a:t>
              </a: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额外的“校验块”。</a:t>
              </a:r>
              <a:endParaRPr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970"/>
                </a:spcBef>
              </a:pPr>
              <a:r>
                <a:rPr sz="1800" kern="0" spc="1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代价：带宽。需要发送更多数据。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650"/>
                </a:spcBef>
              </a:pPr>
              <a:r>
                <a:rPr sz="20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优势：接收方只要收到足够数量的块，就可以在本</a:t>
              </a: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地通过计算直接</a:t>
              </a:r>
              <a:endParaRPr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000"/>
                </a:lnSpc>
              </a:pPr>
              <a:r>
                <a:rPr sz="1800" kern="0" spc="1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恢复出丢失的数据，无需等待重传。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7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121275" algn="l" rtl="0" eaLnBrk="0">
                <a:lnSpc>
                  <a:spcPct val="87000"/>
                </a:lnSpc>
                <a:spcBef>
                  <a:spcPts val="550"/>
                </a:spcBef>
              </a:pPr>
              <a:r>
                <a:rPr sz="1800" b="1" kern="0" spc="70" dirty="0">
                  <a:solidFill>
                    <a:srgbClr val="20506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接收方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4895215" algn="l" rtl="0" eaLnBrk="0">
                <a:lnSpc>
                  <a:spcPct val="99000"/>
                </a:lnSpc>
                <a:spcBef>
                  <a:spcPts val="5"/>
                </a:spcBef>
              </a:pPr>
              <a:r>
                <a:rPr sz="1800" b="1" kern="0" spc="60" dirty="0">
                  <a:solidFill>
                    <a:srgbClr val="20506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800" b="1" kern="0" spc="0" dirty="0">
                  <a:solidFill>
                    <a:srgbClr val="20506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Receiver</a:t>
              </a:r>
              <a:r>
                <a:rPr sz="1800" b="1" kern="0" spc="60" dirty="0">
                  <a:solidFill>
                    <a:srgbClr val="20506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8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43915" algn="l" rtl="0" eaLnBrk="0">
                <a:lnSpc>
                  <a:spcPct val="83000"/>
                </a:lnSpc>
                <a:spcBef>
                  <a:spcPts val="540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D1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730115" algn="l" rtl="0" eaLnBrk="0">
                <a:lnSpc>
                  <a:spcPct val="77000"/>
                </a:lnSpc>
                <a:spcBef>
                  <a:spcPts val="310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D1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31415" algn="l" rtl="0" eaLnBrk="0">
                <a:lnSpc>
                  <a:spcPct val="75000"/>
                </a:lnSpc>
                <a:spcBef>
                  <a:spcPts val="5"/>
                </a:spcBef>
              </a:pPr>
              <a:r>
                <a:rPr sz="4600" kern="0" spc="-20" dirty="0">
                  <a:solidFill>
                    <a:srgbClr val="B0302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X</a:t>
              </a:r>
              <a:endParaRPr sz="4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43915" algn="l" rtl="0" eaLnBrk="0">
                <a:lnSpc>
                  <a:spcPct val="82000"/>
                </a:lnSpc>
                <a:spcBef>
                  <a:spcPts val="10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P1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736465" algn="l" rtl="0" eaLnBrk="0">
                <a:lnSpc>
                  <a:spcPct val="83000"/>
                </a:lnSpc>
                <a:spcBef>
                  <a:spcPts val="960"/>
                </a:spcBef>
              </a:pPr>
              <a:r>
                <a:rPr sz="18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P1               D2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000625" algn="l" rtl="0" eaLnBrk="0">
                <a:lnSpc>
                  <a:spcPct val="76000"/>
                </a:lnSpc>
                <a:spcBef>
                  <a:spcPts val="550"/>
                </a:spcBef>
              </a:pPr>
              <a:r>
                <a:rPr sz="1800" b="1" kern="0" spc="20" dirty="0">
                  <a:solidFill>
                    <a:srgbClr val="206040">
                      <a:alpha val="100000"/>
                    </a:srgbClr>
                  </a:solidFill>
                  <a:latin typeface="隶书" panose="02010509060101010101" charset="-122"/>
                  <a:ea typeface="隶书" panose="02010509060101010101" charset="-122"/>
                  <a:cs typeface="隶书" panose="02010509060101010101" charset="-122"/>
                </a:rPr>
                <a:t>本地计算</a:t>
              </a:r>
              <a:endParaRPr sz="1800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endParaRPr>
            </a:p>
            <a:p>
              <a:pPr marL="4349115" algn="l" rtl="0" eaLnBrk="0">
                <a:lnSpc>
                  <a:spcPct val="84000"/>
                </a:lnSpc>
                <a:spcBef>
                  <a:spcPts val="535"/>
                </a:spcBef>
              </a:pPr>
              <a:r>
                <a:rPr sz="1800" kern="0" spc="110" dirty="0">
                  <a:solidFill>
                    <a:srgbClr val="205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800" kern="0" spc="0" dirty="0">
                  <a:solidFill>
                    <a:srgbClr val="205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Local</a:t>
              </a:r>
              <a:r>
                <a:rPr sz="1800" kern="0" spc="60" dirty="0">
                  <a:solidFill>
                    <a:srgbClr val="205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800" kern="0" spc="0" dirty="0">
                  <a:solidFill>
                    <a:srgbClr val="205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Computation</a:t>
              </a:r>
              <a:r>
                <a:rPr sz="1800" kern="0" spc="110" dirty="0">
                  <a:solidFill>
                    <a:srgbClr val="205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98000"/>
                </a:lnSpc>
                <a:spcBef>
                  <a:spcPts val="5"/>
                </a:spcBef>
              </a:pPr>
              <a:r>
                <a:rPr sz="1800" b="1" kern="0" spc="210" dirty="0">
                  <a:solidFill>
                    <a:srgbClr val="A06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用带宽换时间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876381" y="4133868"/>
            <a:ext cx="7609282" cy="5025245"/>
            <a:chOff x="0" y="0"/>
            <a:chExt cx="7609282" cy="5025245"/>
          </a:xfrm>
        </p:grpSpPr>
        <p:pic>
          <p:nvPicPr>
            <p:cNvPr id="124" name="picture 1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65790" cy="4749808"/>
            </a:xfrm>
            <a:prstGeom prst="rect">
              <a:avLst/>
            </a:prstGeom>
          </p:spPr>
        </p:pic>
        <p:sp>
          <p:nvSpPr>
            <p:cNvPr id="126" name="textbox 126"/>
            <p:cNvSpPr/>
            <p:nvPr/>
          </p:nvSpPr>
          <p:spPr>
            <a:xfrm>
              <a:off x="857215" y="220234"/>
              <a:ext cx="6765290" cy="4851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137025" algn="l" rtl="0" eaLnBrk="0">
                <a:lnSpc>
                  <a:spcPct val="98000"/>
                </a:lnSpc>
              </a:pPr>
              <a:r>
                <a:rPr sz="1800" b="1" kern="0" spc="70" dirty="0">
                  <a:solidFill>
                    <a:srgbClr val="20506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接收方</a:t>
              </a:r>
              <a:endPara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917315" algn="l" rtl="0" eaLnBrk="0">
                <a:lnSpc>
                  <a:spcPct val="83000"/>
                </a:lnSpc>
                <a:spcBef>
                  <a:spcPts val="220"/>
                </a:spcBef>
              </a:pPr>
              <a:r>
                <a:rPr sz="2000" b="1" kern="0" spc="-50" dirty="0">
                  <a:solidFill>
                    <a:srgbClr val="20505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(Receiver</a:t>
              </a:r>
              <a:r>
                <a:rPr sz="2000" b="1" kern="0" spc="-60" dirty="0">
                  <a:solidFill>
                    <a:srgbClr val="20505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2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1430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P1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79265" algn="l" rtl="0" eaLnBrk="0">
                <a:lnSpc>
                  <a:spcPct val="72000"/>
                </a:lnSpc>
                <a:spcBef>
                  <a:spcPts val="665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P1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2000"/>
                </a:lnSpc>
                <a:spcBef>
                  <a:spcPts val="10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P2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21815" algn="l" rtl="0" eaLnBrk="0">
                <a:lnSpc>
                  <a:spcPct val="84000"/>
                </a:lnSpc>
                <a:spcBef>
                  <a:spcPts val="155"/>
                </a:spcBef>
              </a:pPr>
              <a:r>
                <a:rPr sz="1800" kern="0" spc="50" dirty="0">
                  <a:solidFill>
                    <a:srgbClr val="804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800" kern="0" spc="0" dirty="0">
                  <a:solidFill>
                    <a:srgbClr val="804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Dropped</a:t>
              </a:r>
              <a:r>
                <a:rPr sz="1800" kern="0" spc="50" dirty="0">
                  <a:solidFill>
                    <a:srgbClr val="804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4000"/>
                </a:lnSpc>
                <a:spcBef>
                  <a:spcPts val="325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P3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79265" algn="l" rtl="0" eaLnBrk="0">
                <a:lnSpc>
                  <a:spcPct val="82000"/>
                </a:lnSpc>
                <a:spcBef>
                  <a:spcPts val="10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P3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4000"/>
                </a:lnSpc>
                <a:spcBef>
                  <a:spcPts val="645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P4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79265" algn="l" rtl="0" eaLnBrk="0">
                <a:lnSpc>
                  <a:spcPct val="82000"/>
                </a:lnSpc>
                <a:spcBef>
                  <a:spcPts val="5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P4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09725" algn="l" rtl="0" eaLnBrk="0">
                <a:lnSpc>
                  <a:spcPct val="99000"/>
                </a:lnSpc>
                <a:spcBef>
                  <a:spcPts val="420"/>
                </a:spcBef>
              </a:pPr>
              <a:r>
                <a:rPr sz="1800" b="1" kern="0" spc="30" dirty="0">
                  <a:solidFill>
                    <a:srgbClr val="9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等待</a:t>
              </a:r>
              <a:r>
                <a:rPr sz="1800" kern="0" spc="-390" dirty="0">
                  <a:solidFill>
                    <a:srgbClr val="9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800" b="1" kern="0" spc="30" dirty="0">
                  <a:solidFill>
                    <a:srgbClr val="9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&amp;</a:t>
              </a:r>
              <a:r>
                <a:rPr lang="en-US" sz="1800" b="1" kern="0" spc="30" dirty="0">
                  <a:solidFill>
                    <a:srgbClr val="9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800" b="1" kern="0" spc="0" dirty="0">
                  <a:solidFill>
                    <a:srgbClr val="90503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NACK</a:t>
              </a:r>
              <a:endParaRPr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1656715" algn="l" rtl="0" eaLnBrk="0">
                <a:lnSpc>
                  <a:spcPct val="84000"/>
                </a:lnSpc>
                <a:spcBef>
                  <a:spcPts val="1550"/>
                </a:spcBef>
              </a:pPr>
              <a:r>
                <a:rPr sz="1800" kern="0" spc="-10" dirty="0">
                  <a:solidFill>
                    <a:srgbClr val="906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(RTT</a:t>
              </a:r>
              <a:r>
                <a:rPr sz="1800" kern="0" spc="550" dirty="0">
                  <a:solidFill>
                    <a:srgbClr val="906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800" kern="0" spc="-10" dirty="0">
                  <a:solidFill>
                    <a:srgbClr val="906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Delay)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300"/>
                </a:lnSpc>
                <a:spcBef>
                  <a:spcPts val="550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P2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79265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P2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98000"/>
                </a:lnSpc>
                <a:spcBef>
                  <a:spcPts val="5"/>
                </a:spcBef>
              </a:pPr>
              <a:r>
                <a:rPr sz="2000" b="1" kern="0" spc="10" dirty="0">
                  <a:solidFill>
                    <a:srgbClr val="A06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用时间换带宽</a:t>
              </a:r>
              <a:endParaRPr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28" name="textbox 128"/>
          <p:cNvSpPr/>
          <p:nvPr/>
        </p:nvSpPr>
        <p:spPr>
          <a:xfrm>
            <a:off x="2604031" y="540869"/>
            <a:ext cx="11937365" cy="1067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37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一个平台，两种战术：选择性重传</a:t>
            </a:r>
            <a:r>
              <a:rPr sz="3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(SR)vs.</a:t>
            </a:r>
            <a:r>
              <a:rPr sz="37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纠删码</a:t>
            </a:r>
            <a:r>
              <a:rPr sz="3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7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(EC)</a:t>
            </a:r>
            <a:endParaRPr sz="3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6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61565" algn="l" rtl="0" eaLnBrk="0">
              <a:lnSpc>
                <a:spcPct val="92000"/>
              </a:lnSpc>
            </a:pP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 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提供的位图，应用可以轻松实现各种可靠性策略。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692074" y="2094989"/>
            <a:ext cx="7432675" cy="1623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3000"/>
              </a:lnSpc>
            </a:pPr>
            <a:r>
              <a:rPr sz="26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策略一：选择性重传</a:t>
            </a: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b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(SR)</a:t>
            </a:r>
            <a:endParaRPr sz="2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87000"/>
              </a:lnSpc>
              <a:spcBef>
                <a:spcPts val="1320"/>
              </a:spcBef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逻辑：接收方检查位图，发现空缺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(0),通过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NACK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通知发送方重传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2835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丢失的块。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代价：时间。每次修复都需要至少1个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RT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的等待。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1289027" y="4354102"/>
            <a:ext cx="1016635" cy="575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5575" algn="l" rtl="0" eaLnBrk="0">
              <a:lnSpc>
                <a:spcPct val="98000"/>
              </a:lnSpc>
            </a:pPr>
            <a:r>
              <a:rPr sz="1800" b="1" kern="0" spc="0" dirty="0">
                <a:solidFill>
                  <a:srgbClr val="205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发送方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3000"/>
              </a:lnSpc>
              <a:spcBef>
                <a:spcPts val="220"/>
              </a:spcBef>
            </a:pPr>
            <a:r>
              <a:rPr sz="2000" b="1" kern="0" spc="-40" dirty="0">
                <a:solidFill>
                  <a:srgbClr val="205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(Sender)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9544137" y="4354102"/>
            <a:ext cx="965835" cy="574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9225" algn="l" rtl="0" eaLnBrk="0">
              <a:lnSpc>
                <a:spcPct val="98000"/>
              </a:lnSpc>
            </a:pPr>
            <a:r>
              <a:rPr sz="1800" b="1" kern="0" spc="50" dirty="0">
                <a:solidFill>
                  <a:srgbClr val="205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发送方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4000"/>
              </a:lnSpc>
              <a:spcBef>
                <a:spcPts val="390"/>
              </a:spcBef>
            </a:pPr>
            <a:r>
              <a:rPr sz="1800" b="1" kern="0" spc="40" dirty="0">
                <a:solidFill>
                  <a:srgbClr val="205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800" b="1" kern="0" spc="0" dirty="0">
                <a:solidFill>
                  <a:srgbClr val="205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Sender</a:t>
            </a:r>
            <a:r>
              <a:rPr sz="1800" b="1" kern="0" spc="40" dirty="0">
                <a:solidFill>
                  <a:srgbClr val="205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9664716" y="6571800"/>
            <a:ext cx="767715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Parity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endParaRPr sz="1400" b="1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3029033" y="5550613"/>
            <a:ext cx="4127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4600" kern="0" spc="-20" dirty="0">
                <a:solidFill>
                  <a:srgbClr val="B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</a:t>
            </a:r>
            <a:endParaRPr sz="4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3864212" y="5514271"/>
            <a:ext cx="509905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800" b="1" kern="0" spc="80" dirty="0">
                <a:solidFill>
                  <a:srgbClr val="703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丢包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10001288" y="5708619"/>
            <a:ext cx="307975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D2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26260" y="1687830"/>
            <a:ext cx="14182090" cy="7440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3600"/>
              <a:t>怎么采取两种策略中的哪一种？取决于消息大小、路况（丢包率）</a:t>
            </a:r>
            <a:r>
              <a:rPr lang="en-US" altLang="zh-CN" sz="3600"/>
              <a:t> </a:t>
            </a:r>
            <a:r>
              <a:rPr lang="zh-CN" altLang="en-US" sz="3600"/>
              <a:t>和</a:t>
            </a:r>
            <a:r>
              <a:rPr lang="en-US" altLang="zh-CN" sz="3600"/>
              <a:t> </a:t>
            </a:r>
            <a:r>
              <a:rPr lang="zh-CN" altLang="en-US" sz="3600"/>
              <a:t>距离</a:t>
            </a:r>
            <a:endParaRPr lang="zh-CN" altLang="en-US" sz="3600"/>
          </a:p>
          <a:p>
            <a:endParaRPr lang="zh-CN" altLang="en-US" sz="360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634615" y="4042410"/>
          <a:ext cx="11784330" cy="3310890"/>
        </p:xfrm>
        <a:graphic>
          <a:graphicData uri="http://schemas.openxmlformats.org/drawingml/2006/table">
            <a:tbl>
              <a:tblPr/>
              <a:tblGrid>
                <a:gridCol w="3928110"/>
                <a:gridCol w="3928110"/>
                <a:gridCol w="3928110"/>
              </a:tblGrid>
              <a:tr h="109601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变量</a:t>
                      </a:r>
                      <a:endParaRPr lang="zh-CN" altLang="en-US" sz="2000" b="1">
                        <a:solidFill>
                          <a:srgbClr val="1F1F1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小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中等消息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如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128MB)</a:t>
                      </a:r>
                      <a:endParaRPr lang="en-US" altLang="zh-CN" sz="2000">
                        <a:solidFill>
                          <a:srgbClr val="1F1F1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超大消息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如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8GB)</a:t>
                      </a:r>
                      <a:endParaRPr lang="en-US" altLang="zh-CN" sz="2000">
                        <a:solidFill>
                          <a:srgbClr val="1F1F1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9601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低丢包 </a:t>
                      </a: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(Good Network)</a:t>
                      </a:r>
                      <a:endParaRPr lang="en-US" altLang="zh-CN" sz="2000" b="1">
                        <a:solidFill>
                          <a:srgbClr val="1F1F1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SR </a:t>
                      </a: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胜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简单，省带宽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zh-CN" sz="2000">
                        <a:solidFill>
                          <a:srgbClr val="1F1F1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SR </a:t>
                      </a: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胜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重传时间被掩盖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zh-CN" sz="2000">
                        <a:solidFill>
                          <a:srgbClr val="1F1F1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887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中高丢包 </a:t>
                      </a: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(Lossy WAN)</a:t>
                      </a:r>
                      <a:endParaRPr lang="en-US" altLang="zh-CN" sz="2000" b="1">
                        <a:solidFill>
                          <a:srgbClr val="1F1F1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EC </a:t>
                      </a: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完胜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拒绝等待，原地复活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zh-CN" sz="2000">
                        <a:solidFill>
                          <a:srgbClr val="1F1F1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SR </a:t>
                      </a: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胜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(EC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的额外带宽开销太大，且重传此时不痛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zh-CN" sz="2000">
                        <a:solidFill>
                          <a:srgbClr val="1F1F1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 22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8F3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30" name="table 230"/>
          <p:cNvGraphicFramePr>
            <a:graphicFrameLocks noGrp="1"/>
          </p:cNvGraphicFramePr>
          <p:nvPr/>
        </p:nvGraphicFramePr>
        <p:xfrm>
          <a:off x="895429" y="1746284"/>
          <a:ext cx="8863965" cy="3105785"/>
        </p:xfrm>
        <a:graphic>
          <a:graphicData uri="http://schemas.openxmlformats.org/drawingml/2006/table">
            <a:tbl>
              <a:tblPr/>
              <a:tblGrid>
                <a:gridCol w="5697220"/>
                <a:gridCol w="3166745"/>
              </a:tblGrid>
              <a:tr h="31057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2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</a:t>
                      </a:r>
                      <a:r>
                        <a:rPr sz="2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计算开销</a:t>
                      </a:r>
                      <a:endParaRPr sz="26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" algn="l" rtl="0" eaLnBrk="0">
                        <a:lnSpc>
                          <a:spcPct val="112000"/>
                        </a:lnSpc>
                        <a:spcBef>
                          <a:spcPts val="5"/>
                        </a:spcBef>
                      </a:pPr>
                      <a:r>
                        <a:rPr sz="2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纠删码</a:t>
                      </a:r>
                      <a:r>
                        <a:rPr sz="2000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EC</a:t>
                      </a:r>
                      <a:r>
                        <a:rPr sz="2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  </a:t>
                      </a:r>
                      <a:r>
                        <a:rPr sz="2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并非免费。特别是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MDS</a:t>
                      </a:r>
                      <a:r>
                        <a:rPr sz="2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highlight>
                            <a:srgbClr val="FFFF00"/>
                          </a:highlight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码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highlight>
                            <a:srgbClr val="FFFF00"/>
                          </a:highlight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</a:t>
                      </a:r>
                      <a:r>
                        <a:rPr sz="2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计算复杂，在高带宽下可能需要消耗多个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CPU</a:t>
                      </a:r>
                      <a:r>
                        <a:rPr sz="20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核心来掩盖其编码/解码延迟。相比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 </a:t>
                      </a:r>
                      <a:r>
                        <a:rPr sz="2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之下，简单的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XOR</a:t>
                      </a:r>
                      <a:r>
                        <a:rPr sz="2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码虽然计算快，但</a:t>
                      </a:r>
                      <a:r>
                        <a:rPr sz="2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容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</a:t>
                      </a: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错能力较弱。</a:t>
                      </a:r>
                      <a:endParaRPr sz="20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5145" algn="l" rtl="0" eaLnBrk="0">
                        <a:lnSpc>
                          <a:spcPct val="96000"/>
                        </a:lnSpc>
                      </a:pPr>
                      <a:r>
                        <a:rPr sz="2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性能</a:t>
                      </a:r>
                      <a:endParaRPr sz="26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95"/>
                        </a:spcBef>
                      </a:pPr>
                      <a:r>
                        <a:rPr sz="2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(Performance)</a:t>
                      </a:r>
                      <a:endParaRPr sz="2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32" name="textbox 232"/>
          <p:cNvSpPr/>
          <p:nvPr/>
        </p:nvSpPr>
        <p:spPr>
          <a:xfrm>
            <a:off x="12090448" y="2101999"/>
            <a:ext cx="4616450" cy="3850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790"/>
              </a:spcBef>
            </a:pPr>
            <a:r>
              <a:rPr sz="26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sz="26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小消息性能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4000"/>
              </a:lnSpc>
              <a:spcBef>
                <a:spcPts val="1175"/>
              </a:spcBef>
            </a:pP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论文明确指出，对于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小于512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KiB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的消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09000"/>
              </a:lnSpc>
              <a:spcBef>
                <a:spcPts val="22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息</a:t>
            </a:r>
            <a:r>
              <a:rPr sz="2000" kern="0" spc="-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</a:t>
            </a:r>
            <a:r>
              <a:rPr sz="2000" kern="0" spc="4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由于需要软件介入重新提交接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收缓冲，其吞吐量低于硬件固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化的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RC。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r>
              <a:rPr sz="2000" kern="0" spc="90" dirty="0">
                <a:solidFill>
                  <a:srgbClr val="B05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思考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:这定义了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的适用边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界。它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更适合大带宽延迟积</a:t>
            </a:r>
            <a:r>
              <a:rPr sz="2000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BDP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  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下的块数据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传输，而非小消息、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高频率的事务性通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6565837" y="7002216"/>
            <a:ext cx="7165340" cy="2348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6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sz="26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带宽开销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08000"/>
              </a:lnSpc>
              <a:spcBef>
                <a:spcPts val="129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EC</a:t>
            </a:r>
            <a:r>
              <a:rPr sz="2000" kern="0" spc="-3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以增加带宽为代价来换取低延迟。例如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EC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(32,8)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配置会带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来约20%的额外带宽开销。在网络状况极好(丢包率&lt;10</a:t>
            </a:r>
            <a:r>
              <a:rPr lang="en-US" sz="2000" kern="0" spc="30" baseline="30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2000" kern="0" spc="20" baseline="30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时，这部分开销就成了纯粹的浪费。</a:t>
            </a:r>
            <a:endParaRPr sz="2000" kern="0" spc="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08000"/>
              </a:lnSpc>
              <a:spcBef>
                <a:spcPts val="1295"/>
              </a:spcBef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  <a:spcBef>
                <a:spcPts val="0"/>
              </a:spcBef>
            </a:pPr>
            <a:r>
              <a:rPr sz="1900" kern="0" spc="130" dirty="0">
                <a:solidFill>
                  <a:srgbClr val="C05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思考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:未来的可靠性协议或许可以实现自适应，在低丢包时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降低冗余度，在高丢包时增加冗余度。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36" name="picture 2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45384" y="2781337"/>
            <a:ext cx="3784428" cy="3314662"/>
          </a:xfrm>
          <a:prstGeom prst="rect">
            <a:avLst/>
          </a:prstGeom>
        </p:spPr>
      </p:pic>
      <p:sp>
        <p:nvSpPr>
          <p:cNvPr id="238" name="textbox 238"/>
          <p:cNvSpPr/>
          <p:nvPr/>
        </p:nvSpPr>
        <p:spPr>
          <a:xfrm>
            <a:off x="901777" y="5293262"/>
            <a:ext cx="6052820" cy="1301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000" kern="0" spc="40" dirty="0">
                <a:solidFill>
                  <a:srgbClr val="B05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思考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:这意味着需要协同设计，根据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15"/>
              </a:spcBef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应用的计算负载和网络状况，动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态选择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00000"/>
              </a:lnSpc>
              <a:spcBef>
                <a:spcPts val="10"/>
              </a:spcBef>
            </a:pPr>
            <a:r>
              <a:rPr sz="3100" kern="0" spc="-20" baseline="-7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EC</a:t>
            </a:r>
            <a:r>
              <a:rPr sz="3100" kern="0" spc="-20" baseline="-7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算法或关闭</a:t>
            </a:r>
            <a:r>
              <a:rPr sz="3100" kern="0" spc="-20" baseline="-7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EC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100" kern="0" spc="-20" baseline="-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sz="4000" kern="0" spc="-20" baseline="7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灵活性</a:t>
            </a:r>
            <a:endParaRPr sz="4000" baseline="7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1000"/>
              </a:lnSpc>
              <a:spcBef>
                <a:spcPts val="15"/>
              </a:spcBef>
            </a:pP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(Flexibility)</a:t>
            </a:r>
            <a:endParaRPr sz="2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901777" y="648944"/>
            <a:ext cx="11139169" cy="586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4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我的思考：</a:t>
            </a:r>
            <a:r>
              <a:rPr sz="4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</a:t>
            </a:r>
            <a:r>
              <a:rPr sz="40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4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4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的权衡与代价</a:t>
            </a:r>
            <a:endParaRPr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10388538" y="5840106"/>
            <a:ext cx="1675129" cy="735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8950" algn="l" rtl="0" eaLnBrk="0">
              <a:lnSpc>
                <a:spcPct val="97000"/>
              </a:lnSpc>
            </a:pPr>
            <a:r>
              <a:rPr sz="26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开销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2000"/>
              </a:lnSpc>
              <a:spcBef>
                <a:spcPts val="5"/>
              </a:spcBef>
            </a:pP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(Overhead)</a:t>
            </a:r>
            <a:endParaRPr sz="2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13383" y="7378696"/>
            <a:ext cx="762093" cy="711232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429" y="1746284"/>
            <a:ext cx="723822" cy="7111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2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895311" y="2253477"/>
            <a:ext cx="7705090" cy="3458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8000"/>
              </a:lnSpc>
            </a:pPr>
            <a:r>
              <a:rPr sz="3100" b="1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核心思想总结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9725" indent="-327025" algn="l" rtl="0" eaLnBrk="0">
              <a:lnSpc>
                <a:spcPct val="114000"/>
              </a:lnSpc>
              <a:spcBef>
                <a:spcPts val="670"/>
              </a:spcBef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问题：硬件固化的可靠性机制无法适应跨数据中心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训练的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b="1"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复杂网络环境。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9725" indent="-323215" algn="l" rtl="0" eaLnBrk="0">
              <a:lnSpc>
                <a:spcPct val="107000"/>
              </a:lnSpc>
              <a:spcBef>
                <a:spcPts val="670"/>
              </a:spcBef>
            </a:pP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200" kern="0" spc="-5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方案：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SDR-RDMA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通过“位图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API+DPA</a:t>
            </a:r>
            <a:r>
              <a:rPr sz="2200" b="1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卸载”</a:t>
            </a:r>
            <a:r>
              <a:rPr sz="22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的核心设计，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解耦了可靠性逻辑与数据路径，实现了灵活性与性能的统一。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9725" indent="-327660" algn="l" rtl="0" eaLnBrk="0">
              <a:lnSpc>
                <a:spcPct val="106000"/>
              </a:lnSpc>
              <a:spcBef>
                <a:spcPts val="5"/>
              </a:spcBef>
            </a:pP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价值：为不同的网络条件和应用需求，提供了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“量体裁衣”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式的可靠性策略选择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，将尾部延迟降低一个数量级。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54" name="picture 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899701" y="5194280"/>
            <a:ext cx="6356253" cy="3536947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9156712" y="2249076"/>
            <a:ext cx="7366000" cy="2889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7000"/>
              </a:lnSpc>
            </a:pPr>
            <a:r>
              <a:rPr sz="3100" b="1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我的思考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7975" indent="-295910" algn="l" rtl="0" eaLnBrk="0">
              <a:lnSpc>
                <a:spcPct val="108000"/>
              </a:lnSpc>
              <a:spcBef>
                <a:spcPts val="665"/>
              </a:spcBef>
            </a:pP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范式转变：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SDR-RDMA</a:t>
            </a:r>
            <a:r>
              <a:rPr sz="2200" kern="0" spc="4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世界带来了类似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QUIC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2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TCP/UDP</a:t>
            </a:r>
            <a:r>
              <a:rPr sz="2200" kern="0" spc="10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的革新。它将底层硬件变成了一</a:t>
            </a:r>
            <a:r>
              <a:rPr sz="22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个可编程的高性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能引擎，使上层传输协议的快速创新成为可能。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165" indent="-291465" algn="l" rtl="0" eaLnBrk="0">
              <a:lnSpc>
                <a:spcPct val="110000"/>
              </a:lnSpc>
              <a:spcBef>
                <a:spcPts val="5"/>
              </a:spcBef>
            </a:pP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</a:t>
            </a:r>
            <a:r>
              <a:rPr sz="22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sz="22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训练：这种思想可以迁移到其他领域，</a:t>
            </a:r>
            <a:r>
              <a:rPr sz="22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例如跨地域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存储复制和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HPC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协同计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904119" y="864855"/>
            <a:ext cx="15629255" cy="732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48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总结与展望：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</a:t>
            </a:r>
            <a:r>
              <a:rPr sz="4800" b="1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48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8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48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领域的</a:t>
            </a:r>
            <a:r>
              <a:rPr sz="4800" b="1" kern="0" spc="-3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“QUIC</a:t>
            </a:r>
            <a:r>
              <a:rPr sz="4800" kern="0" spc="5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800" b="1" kern="0" spc="-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时刻”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895311" y="8480810"/>
            <a:ext cx="7484744" cy="732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SDR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RDMA</a:t>
            </a:r>
            <a:r>
              <a:rPr sz="2200" kern="0" spc="5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不仅解决了今天的问题，更打开了未来高性能网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330"/>
              </a:lnSpc>
            </a:pPr>
            <a:r>
              <a:rPr sz="1900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络协议创新的大门。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10458439" y="7645165"/>
            <a:ext cx="5316220" cy="626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Hardware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75"/>
              </a:lnSpc>
              <a:spcBef>
                <a:spcPts val="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protocols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14782852" y="5938022"/>
            <a:ext cx="1448435" cy="1386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615" algn="l" rtl="0" eaLnBrk="0">
              <a:lnSpc>
                <a:spcPts val="1975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adaptive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235"/>
              </a:lnSpc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algorithms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6880" indent="-386715" algn="l" rtl="0" eaLnBrk="0">
              <a:lnSpc>
                <a:spcPct val="127000"/>
              </a:lnSpc>
              <a:spcBef>
                <a:spcPts val="5"/>
              </a:spcBef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novel</a:t>
            </a:r>
            <a:r>
              <a:rPr sz="14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congestion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control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10477487" y="6130949"/>
            <a:ext cx="966469" cy="982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0" algn="l" rtl="0" eaLnBrk="0">
              <a:lnSpc>
                <a:spcPct val="81000"/>
              </a:lnSpc>
              <a:spcBef>
                <a:spcPts val="5"/>
              </a:spcBef>
            </a:pPr>
            <a:r>
              <a:rPr sz="1900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DPA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16097336" y="9471665"/>
            <a:ext cx="1270000" cy="201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endParaRPr sz="1400" b="1" kern="0" spc="-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355" y="6033135"/>
            <a:ext cx="6598920" cy="18592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7*260"/>
  <p:tag name="TABLE_ENDDRAG_RECT" val="207*318*927*260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3375</Words>
  <Application>WPS 演示</Application>
  <PresentationFormat/>
  <Paragraphs>313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Arial</vt:lpstr>
      <vt:lpstr>黑体</vt:lpstr>
      <vt:lpstr>Times New Roman</vt:lpstr>
      <vt:lpstr>Times New Roman</vt:lpstr>
      <vt:lpstr>隶书</vt:lpstr>
      <vt:lpstr>微软雅黑</vt:lpstr>
      <vt:lpstr>Arial Unicode MS</vt:lpstr>
      <vt:lpstr>Calibri</vt:lpstr>
      <vt:lpstr>Google Sans Text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超级小煊</cp:lastModifiedBy>
  <cp:revision>23</cp:revision>
  <dcterms:created xsi:type="dcterms:W3CDTF">2025-12-15T10:41:00Z</dcterms:created>
  <dcterms:modified xsi:type="dcterms:W3CDTF">2025-12-17T07:05:50Z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2025-12-17T02:40:57Z</vt:filetime>
  </property>
  <property fmtid="{D5CDD505-2E9C-101B-9397-08002B2CF9AE}" pid="4" name="UsrData">
    <vt:lpwstr>693fe5ab0c9584001f1f27f2wl</vt:lpwstr>
  </property>
  <property fmtid="{D5CDD505-2E9C-101B-9397-08002B2CF9AE}" pid="5" name="ICV">
    <vt:lpwstr>513215D76F53447CA67140A65029FB04_13</vt:lpwstr>
  </property>
  <property fmtid="{D5CDD505-2E9C-101B-9397-08002B2CF9AE}" pid="6" name="KSOProductBuildVer">
    <vt:lpwstr>2052-12.1.0.24034</vt:lpwstr>
  </property>
</Properties>
</file>